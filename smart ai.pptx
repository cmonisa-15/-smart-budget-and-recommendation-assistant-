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notesMasterIdLst>
    <p:notesMasterId r:id="rId2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51435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11" autoAdjust="0"/>
    <p:restoredTop sz="99500" autoAdjust="0"/>
  </p:normalViewPr>
  <p:slideViewPr>
    <p:cSldViewPr snapToGrid="0" snapToObjects="1">
      <p:cViewPr varScale="1">
        <p:scale>
          <a:sx n="112" d="100"/>
          <a:sy n="112" d="100"/>
        </p:scale>
        <p:origin x="0" y="0"/>
      </p:cViewPr>
      <p:guideLst>
        <p:guide orient="horz" pos="1616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8874042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宋体" pitchFamily="0" charset="0"/>
        <a:cs typeface="Calibri" pitchFamily="0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宋体" pitchFamily="0" charset="0"/>
        <a:cs typeface="Calibri" pitchFamily="0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宋体" pitchFamily="0" charset="0"/>
        <a:cs typeface="Calibri" pitchFamily="0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宋体" pitchFamily="0" charset="0"/>
        <a:cs typeface="Calibri" pitchFamily="0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宋体" pitchFamily="0" charset="0"/>
        <a:cs typeface="Calibri" pitchFamily="0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宋体" pitchFamily="0" charset="0"/>
        <a:cs typeface="Calibri" pitchFamily="0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宋体" pitchFamily="0" charset="0"/>
        <a:cs typeface="Calibri" pitchFamily="0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宋体" pitchFamily="0" charset="0"/>
        <a:cs typeface="Calibri" pitchFamily="0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宋体" pitchFamily="0" charset="0"/>
        <a:cs typeface="Calibri" pitchFamily="0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8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Introduce the project name and what it does in one line.</a:t>
            </a:r>
            <a:endParaRPr lang="zh-CN" altLang="en-US"/>
          </a:p>
        </p:txBody>
      </p:sp>
      <p:sp>
        <p:nvSpPr>
          <p:cNvPr id="9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269413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5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Explain why students struggle with budgeting and choosing products.</a:t>
            </a:r>
            <a:endParaRPr lang="zh-CN" altLang="en-US"/>
          </a:p>
        </p:txBody>
      </p:sp>
      <p:sp>
        <p:nvSpPr>
          <p:cNvPr id="26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2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167800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49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Walk through the four main features one by one.</a:t>
            </a:r>
            <a:endParaRPr lang="zh-CN" altLang="en-US"/>
          </a:p>
        </p:txBody>
      </p:sp>
      <p:sp>
        <p:nvSpPr>
          <p:cNvPr id="50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3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296401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80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Explain the flow from user input to final suggestions.</a:t>
            </a:r>
            <a:endParaRPr lang="zh-CN" altLang="en-US"/>
          </a:p>
        </p:txBody>
      </p:sp>
      <p:sp>
        <p:nvSpPr>
          <p:cNvPr id="81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4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913184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94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Adjust the tech stack to match what you actually used in your project.</a:t>
            </a:r>
            <a:endParaRPr lang="zh-CN" altLang="en-US"/>
          </a:p>
        </p:txBody>
      </p:sp>
      <p:sp>
        <p:nvSpPr>
          <p:cNvPr id="95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5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639354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09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Summarize the project and mention future improvements. End with Q&amp;A.</a:t>
            </a:r>
            <a:endParaRPr lang="zh-CN" altLang="en-US"/>
          </a:p>
        </p:txBody>
      </p:sp>
      <p:sp>
        <p:nvSpPr>
          <p:cNvPr id="110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6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23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59860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335725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45545645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438680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3920716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975991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9564980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66832528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70456369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40111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93310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9869507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82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 Light" pitchFamily="0" charset="0"/>
          <a:ea typeface="等线 Light" pitchFamily="0" charset="0"/>
          <a:cs typeface="Calibri Light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2.png"/><Relationship Id="rId2" Type="http://schemas.openxmlformats.org/officeDocument/2006/relationships/image" Target="../media/3.png"/><Relationship Id="rId3" Type="http://schemas.openxmlformats.org/officeDocument/2006/relationships/image" Target="../media/4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5.png"/><Relationship Id="rId2" Type="http://schemas.openxmlformats.org/officeDocument/2006/relationships/image" Target="../media/6.png"/><Relationship Id="rId3" Type="http://schemas.openxmlformats.org/officeDocument/2006/relationships/image" Target="../media/7.png"/><Relationship Id="rId4" Type="http://schemas.openxmlformats.org/officeDocument/2006/relationships/image" Target="../media/8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9.png"/><Relationship Id="rId2" Type="http://schemas.openxmlformats.org/officeDocument/2006/relationships/image" Target="../media/10.png"/><Relationship Id="rId3" Type="http://schemas.openxmlformats.org/officeDocument/2006/relationships/image" Target="../media/11.png"/><Relationship Id="rId4" Type="http://schemas.openxmlformats.org/officeDocument/2006/relationships/image" Target="../media/10.png"/><Relationship Id="rId5" Type="http://schemas.openxmlformats.org/officeDocument/2006/relationships/image" Target="../media/12.png"/><Relationship Id="rId6" Type="http://schemas.openxmlformats.org/officeDocument/2006/relationships/image" Target="../media/10.png"/><Relationship Id="rId7" Type="http://schemas.openxmlformats.org/officeDocument/2006/relationships/image" Target="../media/13.png"/><Relationship Id="rId8" Type="http://schemas.openxmlformats.org/officeDocument/2006/relationships/slideLayout" Target="../slideLayouts/slideLayout1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14.png"/><Relationship Id="rId2" Type="http://schemas.openxmlformats.org/officeDocument/2006/relationships/image" Target="../media/15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16.png"/><Relationship Id="rId2" Type="http://schemas.openxmlformats.org/officeDocument/2006/relationships/image" Target="../media/17.png"/><Relationship Id="rId3" Type="http://schemas.openxmlformats.org/officeDocument/2006/relationships/image" Target="../media/18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6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B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"/>
          <p:cNvSpPr>
            <a:spLocks/>
          </p:cNvSpPr>
          <p:nvPr/>
        </p:nvSpPr>
        <p:spPr>
          <a:xfrm rot="0">
            <a:off x="640080" y="731520"/>
            <a:ext cx="1005839" cy="1005839"/>
          </a:xfrm>
          <a:prstGeom prst="ellipse"/>
          <a:solidFill>
            <a:srgbClr val="02C39A"/>
          </a:solidFill>
          <a:ln w="12700" cmpd="sng" cap="flat">
            <a:noFill/>
            <a:prstDash val="solid"/>
            <a:miter/>
          </a:ln>
        </p:spPr>
      </p:sp>
      <p:pic>
        <p:nvPicPr>
          <p:cNvPr id="3" name="图片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896112" y="987551"/>
            <a:ext cx="493775" cy="493775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4" name="矩形"/>
          <p:cNvSpPr>
            <a:spLocks/>
          </p:cNvSpPr>
          <p:nvPr/>
        </p:nvSpPr>
        <p:spPr>
          <a:xfrm rot="0">
            <a:off x="640080" y="1920240"/>
            <a:ext cx="7863840" cy="9144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Pocket Smart AI</a:t>
            </a:r>
            <a:endParaRPr lang="zh-CN" altLang="en-US" sz="4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" name="矩形"/>
          <p:cNvSpPr>
            <a:spLocks/>
          </p:cNvSpPr>
          <p:nvPr/>
        </p:nvSpPr>
        <p:spPr>
          <a:xfrm rot="0">
            <a:off x="640080" y="2880360"/>
            <a:ext cx="786384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1200" cap="none" spc="0" baseline="0">
                <a:solidFill>
                  <a:srgbClr val="02C39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Your Smart Budget and Recommendation Assistant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" name="矩形"/>
          <p:cNvSpPr>
            <a:spLocks/>
          </p:cNvSpPr>
          <p:nvPr/>
        </p:nvSpPr>
        <p:spPr>
          <a:xfrm rot="0">
            <a:off x="716278" y="4066189"/>
            <a:ext cx="7863840" cy="9018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A9C4C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College Project </a:t>
            </a:r>
            <a:r>
              <a:rPr lang="en-US" altLang="zh-CN" sz="1400" b="0" i="0" u="none" strike="noStrike" kern="1200" cap="none" spc="0" baseline="0">
                <a:solidFill>
                  <a:srgbClr val="A9C4C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Presentation </a:t>
            </a:r>
            <a:endParaRPr lang="en-US" altLang="zh-CN" sz="1400" b="0" i="0" u="none" strike="noStrike" kern="1200" cap="none" spc="0" baseline="0">
              <a:solidFill>
                <a:srgbClr val="A9C4C9"/>
              </a:solidFill>
              <a:latin typeface="Calibri" pitchFamily="0" charset="0"/>
              <a:ea typeface="Calibri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A9C4C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 </a:t>
            </a:r>
            <a:r>
              <a:rPr lang="en-US" altLang="zh-CN" sz="1400" b="0" i="0" u="none" strike="noStrike" kern="1200" cap="none" spc="0" baseline="0">
                <a:solidFill>
                  <a:srgbClr val="A9C4C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by</a:t>
            </a:r>
            <a:endParaRPr lang="en-US" altLang="zh-CN" sz="1400" b="0" i="0" u="none" strike="noStrike" kern="1200" cap="none" spc="0" baseline="0">
              <a:solidFill>
                <a:srgbClr val="A9C4C9"/>
              </a:solidFill>
              <a:latin typeface="Calibri" pitchFamily="0" charset="0"/>
              <a:ea typeface="Calibri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A9C4C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Team leader</a:t>
            </a:r>
            <a:endParaRPr lang="en-US" altLang="zh-CN" sz="1400" b="0" i="0" u="none" strike="noStrike" kern="1200" cap="none" spc="0" baseline="0">
              <a:solidFill>
                <a:srgbClr val="A9C4C9"/>
              </a:solidFill>
              <a:latin typeface="Calibri" pitchFamily="0" charset="0"/>
              <a:ea typeface="Calibri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A9C4C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 </a:t>
            </a:r>
            <a:r>
              <a:rPr lang="en-US" altLang="zh-CN" sz="1400" b="0" i="0" u="none" strike="noStrike" kern="1200" cap="none" spc="0" baseline="0">
                <a:solidFill>
                  <a:srgbClr val="A9C4C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  </a:t>
            </a:r>
            <a:r>
              <a:rPr lang="en-US" altLang="zh-CN" sz="1400" b="0" i="0" u="none" strike="noStrike" kern="1200" cap="none" spc="0" baseline="0">
                <a:solidFill>
                  <a:srgbClr val="A9C4C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manikandan C</a:t>
            </a:r>
            <a:endParaRPr lang="en-US" altLang="zh-CN" sz="1400" b="0" i="0" u="none" strike="noStrike" kern="1200" cap="none" spc="0" baseline="0">
              <a:solidFill>
                <a:srgbClr val="A9C4C9"/>
              </a:solidFill>
              <a:latin typeface="Calibri" pitchFamily="0" charset="0"/>
              <a:ea typeface="Calibri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A9C4C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Team members </a:t>
            </a:r>
            <a:endParaRPr lang="en-US" altLang="zh-CN" sz="1400" b="0" i="0" u="none" strike="noStrike" kern="1200" cap="none" spc="0" baseline="0">
              <a:solidFill>
                <a:srgbClr val="A9C4C9"/>
              </a:solidFill>
              <a:latin typeface="Calibri" pitchFamily="0" charset="0"/>
              <a:ea typeface="Calibri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A9C4C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manoj C,  meiakash R , Monisa C , Mugilan B 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1" name="文本框"/>
          <p:cNvSpPr txBox="1">
            <a:spLocks/>
          </p:cNvSpPr>
          <p:nvPr/>
        </p:nvSpPr>
        <p:spPr>
          <a:xfrm rot="0">
            <a:off x="4001830" y="2012568"/>
            <a:ext cx="1133457" cy="3581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524267641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/>
          <p:cNvSpPr>
            <a:spLocks/>
          </p:cNvSpPr>
          <p:nvPr/>
        </p:nvSpPr>
        <p:spPr>
          <a:xfrm rot="0">
            <a:off x="548640" y="365760"/>
            <a:ext cx="8046719" cy="7315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rgbClr val="0B2B33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The Problem</a:t>
            </a:r>
            <a:endParaRPr lang="zh-CN" altLang="en-US" sz="3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" name="矩形"/>
          <p:cNvSpPr>
            <a:spLocks/>
          </p:cNvSpPr>
          <p:nvPr/>
        </p:nvSpPr>
        <p:spPr>
          <a:xfrm rot="0">
            <a:off x="548640" y="1097280"/>
            <a:ext cx="8046719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5B6B7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Managing money is hard, especially for students and young earners.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" name="椭圆"/>
          <p:cNvSpPr>
            <a:spLocks/>
          </p:cNvSpPr>
          <p:nvPr/>
        </p:nvSpPr>
        <p:spPr>
          <a:xfrm rot="0">
            <a:off x="548640" y="1828800"/>
            <a:ext cx="731519" cy="731520"/>
          </a:xfrm>
          <a:prstGeom prst="ellipse"/>
          <a:solidFill>
            <a:srgbClr val="028090"/>
          </a:solidFill>
          <a:ln w="12700" cmpd="sng" cap="flat">
            <a:noFill/>
            <a:prstDash val="solid"/>
            <a:miter/>
          </a:ln>
        </p:spPr>
      </p:sp>
      <p:pic>
        <p:nvPicPr>
          <p:cNvPr id="13" name="图片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749808" y="2029968"/>
            <a:ext cx="329183" cy="329184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4" name="矩形"/>
          <p:cNvSpPr>
            <a:spLocks/>
          </p:cNvSpPr>
          <p:nvPr/>
        </p:nvSpPr>
        <p:spPr>
          <a:xfrm rot="0">
            <a:off x="1554480" y="1810512"/>
            <a:ext cx="7040879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0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Untracked spending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 rot="0">
            <a:off x="1554480" y="2176272"/>
            <a:ext cx="7040879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1F2D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Small daily expenses add up and go unnoticed until the month ends.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" name="椭圆"/>
          <p:cNvSpPr>
            <a:spLocks/>
          </p:cNvSpPr>
          <p:nvPr/>
        </p:nvSpPr>
        <p:spPr>
          <a:xfrm rot="0">
            <a:off x="548640" y="2880360"/>
            <a:ext cx="731519" cy="731520"/>
          </a:xfrm>
          <a:prstGeom prst="ellipse"/>
          <a:solidFill>
            <a:srgbClr val="028090"/>
          </a:solidFill>
          <a:ln w="12700" cmpd="sng" cap="flat">
            <a:noFill/>
            <a:prstDash val="solid"/>
            <a:miter/>
          </a:ln>
        </p:spPr>
      </p:sp>
      <p:pic>
        <p:nvPicPr>
          <p:cNvPr id="17" name="图片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749808" y="3081528"/>
            <a:ext cx="329183" cy="32918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8" name="矩形"/>
          <p:cNvSpPr>
            <a:spLocks/>
          </p:cNvSpPr>
          <p:nvPr/>
        </p:nvSpPr>
        <p:spPr>
          <a:xfrm rot="0">
            <a:off x="1554480" y="2862072"/>
            <a:ext cx="7040879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0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No clear budget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" name="矩形"/>
          <p:cNvSpPr>
            <a:spLocks/>
          </p:cNvSpPr>
          <p:nvPr/>
        </p:nvSpPr>
        <p:spPr>
          <a:xfrm rot="0">
            <a:off x="1554480" y="3227832"/>
            <a:ext cx="7040879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1F2D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Most people have no simple plan for how much to spend or save.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" name="椭圆"/>
          <p:cNvSpPr>
            <a:spLocks/>
          </p:cNvSpPr>
          <p:nvPr/>
        </p:nvSpPr>
        <p:spPr>
          <a:xfrm rot="0">
            <a:off x="548640" y="3931920"/>
            <a:ext cx="731519" cy="731520"/>
          </a:xfrm>
          <a:prstGeom prst="ellipse"/>
          <a:solidFill>
            <a:srgbClr val="028090"/>
          </a:solidFill>
          <a:ln w="12700" cmpd="sng" cap="flat">
            <a:noFill/>
            <a:prstDash val="solid"/>
            <a:miter/>
          </a:ln>
        </p:spPr>
      </p:sp>
      <p:pic>
        <p:nvPicPr>
          <p:cNvPr id="21" name="图片" descr="preencod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749808" y="4133088"/>
            <a:ext cx="329183" cy="32918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2" name="矩形"/>
          <p:cNvSpPr>
            <a:spLocks/>
          </p:cNvSpPr>
          <p:nvPr/>
        </p:nvSpPr>
        <p:spPr>
          <a:xfrm rot="0">
            <a:off x="1554480" y="3913632"/>
            <a:ext cx="7040879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0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Poor decisions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" name="矩形"/>
          <p:cNvSpPr>
            <a:spLocks/>
          </p:cNvSpPr>
          <p:nvPr/>
        </p:nvSpPr>
        <p:spPr>
          <a:xfrm rot="0">
            <a:off x="1554480" y="4279392"/>
            <a:ext cx="7040879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1F2D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Hard to know the best product or option within a limited budget.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041152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2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"/>
          <p:cNvSpPr>
            <a:spLocks/>
          </p:cNvSpPr>
          <p:nvPr/>
        </p:nvSpPr>
        <p:spPr>
          <a:xfrm rot="0">
            <a:off x="548640" y="365760"/>
            <a:ext cx="8046719" cy="7315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rgbClr val="0B2B33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Our Solution: Key Features</a:t>
            </a:r>
            <a:endParaRPr lang="zh-CN" altLang="en-US" sz="3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" name="圆角矩形"/>
          <p:cNvSpPr>
            <a:spLocks/>
          </p:cNvSpPr>
          <p:nvPr/>
        </p:nvSpPr>
        <p:spPr>
          <a:xfrm rot="0">
            <a:off x="548640" y="1371600"/>
            <a:ext cx="3840479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76200" dist="25400" dir="5400000">
              <a:srgbClr val="000000">
                <a:alpha val="11764"/>
              </a:srgbClr>
            </a:outerShdw>
          </a:effectLst>
        </p:spPr>
      </p:sp>
      <p:sp>
        <p:nvSpPr>
          <p:cNvPr id="29" name="椭圆"/>
          <p:cNvSpPr>
            <a:spLocks/>
          </p:cNvSpPr>
          <p:nvPr/>
        </p:nvSpPr>
        <p:spPr>
          <a:xfrm rot="0">
            <a:off x="822960" y="1737360"/>
            <a:ext cx="731519" cy="731520"/>
          </a:xfrm>
          <a:prstGeom prst="ellipse"/>
          <a:solidFill>
            <a:srgbClr val="028090"/>
          </a:solidFill>
          <a:ln w="12700" cmpd="sng" cap="flat">
            <a:noFill/>
            <a:prstDash val="solid"/>
            <a:miter/>
          </a:ln>
        </p:spPr>
      </p:sp>
      <p:pic>
        <p:nvPicPr>
          <p:cNvPr id="30" name="图片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024127" y="1938527"/>
            <a:ext cx="329184" cy="329184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31" name="矩形"/>
          <p:cNvSpPr>
            <a:spLocks/>
          </p:cNvSpPr>
          <p:nvPr/>
        </p:nvSpPr>
        <p:spPr>
          <a:xfrm rot="0">
            <a:off x="1737360" y="1645920"/>
            <a:ext cx="251460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0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Expense Tracking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2" name="矩形"/>
          <p:cNvSpPr>
            <a:spLocks/>
          </p:cNvSpPr>
          <p:nvPr/>
        </p:nvSpPr>
        <p:spPr>
          <a:xfrm rot="0">
            <a:off x="1737360" y="2057400"/>
            <a:ext cx="2514600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1F2D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Log and categorize daily spending in seconds.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3" name="圆角矩形"/>
          <p:cNvSpPr>
            <a:spLocks/>
          </p:cNvSpPr>
          <p:nvPr/>
        </p:nvSpPr>
        <p:spPr>
          <a:xfrm rot="0">
            <a:off x="4663440" y="137160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76200" dist="25400" dir="5400000">
              <a:srgbClr val="000000">
                <a:alpha val="11764"/>
              </a:srgbClr>
            </a:outerShdw>
          </a:effectLst>
        </p:spPr>
      </p:sp>
      <p:sp>
        <p:nvSpPr>
          <p:cNvPr id="34" name="椭圆"/>
          <p:cNvSpPr>
            <a:spLocks/>
          </p:cNvSpPr>
          <p:nvPr/>
        </p:nvSpPr>
        <p:spPr>
          <a:xfrm rot="0">
            <a:off x="4937760" y="1737360"/>
            <a:ext cx="731519" cy="731520"/>
          </a:xfrm>
          <a:prstGeom prst="ellipse"/>
          <a:solidFill>
            <a:srgbClr val="02C39A"/>
          </a:solidFill>
          <a:ln w="12700" cmpd="sng" cap="flat">
            <a:noFill/>
            <a:prstDash val="solid"/>
            <a:miter/>
          </a:ln>
        </p:spPr>
      </p:sp>
      <p:pic>
        <p:nvPicPr>
          <p:cNvPr id="35" name="图片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5138927" y="1938527"/>
            <a:ext cx="329184" cy="329184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36" name="矩形"/>
          <p:cNvSpPr>
            <a:spLocks/>
          </p:cNvSpPr>
          <p:nvPr/>
        </p:nvSpPr>
        <p:spPr>
          <a:xfrm rot="0">
            <a:off x="5852160" y="1645920"/>
            <a:ext cx="251460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0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Budget Planning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7" name="矩形"/>
          <p:cNvSpPr>
            <a:spLocks/>
          </p:cNvSpPr>
          <p:nvPr/>
        </p:nvSpPr>
        <p:spPr>
          <a:xfrm rot="0">
            <a:off x="5852160" y="2057400"/>
            <a:ext cx="2514600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1F2D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Set monthly limits and savings goals easily.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8" name="圆角矩形"/>
          <p:cNvSpPr>
            <a:spLocks/>
          </p:cNvSpPr>
          <p:nvPr/>
        </p:nvSpPr>
        <p:spPr>
          <a:xfrm rot="0">
            <a:off x="548640" y="3063239"/>
            <a:ext cx="3840479" cy="1463039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76200" dist="25400" dir="5400000">
              <a:srgbClr val="000000">
                <a:alpha val="11764"/>
              </a:srgbClr>
            </a:outerShdw>
          </a:effectLst>
        </p:spPr>
      </p:sp>
      <p:sp>
        <p:nvSpPr>
          <p:cNvPr id="39" name="椭圆"/>
          <p:cNvSpPr>
            <a:spLocks/>
          </p:cNvSpPr>
          <p:nvPr/>
        </p:nvSpPr>
        <p:spPr>
          <a:xfrm rot="0">
            <a:off x="822960" y="3429000"/>
            <a:ext cx="731519" cy="731520"/>
          </a:xfrm>
          <a:prstGeom prst="ellipse"/>
          <a:solidFill>
            <a:srgbClr val="028090"/>
          </a:solidFill>
          <a:ln w="12700" cmpd="sng" cap="flat">
            <a:noFill/>
            <a:prstDash val="solid"/>
            <a:miter/>
          </a:ln>
        </p:spPr>
      </p:sp>
      <p:pic>
        <p:nvPicPr>
          <p:cNvPr id="40" name="图片" descr="preencod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1024127" y="3630167"/>
            <a:ext cx="329184" cy="32918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41" name="矩形"/>
          <p:cNvSpPr>
            <a:spLocks/>
          </p:cNvSpPr>
          <p:nvPr/>
        </p:nvSpPr>
        <p:spPr>
          <a:xfrm rot="0">
            <a:off x="1737360" y="3337560"/>
            <a:ext cx="251460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0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AI Insights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2" name="矩形"/>
          <p:cNvSpPr>
            <a:spLocks/>
          </p:cNvSpPr>
          <p:nvPr/>
        </p:nvSpPr>
        <p:spPr>
          <a:xfrm rot="0">
            <a:off x="1737360" y="3749040"/>
            <a:ext cx="2514600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1F2D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Analyses habits and flags overspending early.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3" name="圆角矩形"/>
          <p:cNvSpPr>
            <a:spLocks/>
          </p:cNvSpPr>
          <p:nvPr/>
        </p:nvSpPr>
        <p:spPr>
          <a:xfrm rot="0">
            <a:off x="4663440" y="3063239"/>
            <a:ext cx="3840480" cy="1463039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76200" dist="25400" dir="5400000">
              <a:srgbClr val="000000">
                <a:alpha val="11764"/>
              </a:srgbClr>
            </a:outerShdw>
          </a:effectLst>
        </p:spPr>
      </p:sp>
      <p:sp>
        <p:nvSpPr>
          <p:cNvPr id="44" name="椭圆"/>
          <p:cNvSpPr>
            <a:spLocks/>
          </p:cNvSpPr>
          <p:nvPr/>
        </p:nvSpPr>
        <p:spPr>
          <a:xfrm rot="0">
            <a:off x="4937760" y="3429000"/>
            <a:ext cx="731519" cy="731520"/>
          </a:xfrm>
          <a:prstGeom prst="ellipse"/>
          <a:solidFill>
            <a:srgbClr val="02C39A"/>
          </a:solidFill>
          <a:ln w="12700" cmpd="sng" cap="flat">
            <a:noFill/>
            <a:prstDash val="solid"/>
            <a:miter/>
          </a:ln>
        </p:spPr>
      </p:sp>
      <p:pic>
        <p:nvPicPr>
          <p:cNvPr id="45" name="图片" descr="preencoded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5138927" y="3630167"/>
            <a:ext cx="329184" cy="32918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46" name="矩形"/>
          <p:cNvSpPr>
            <a:spLocks/>
          </p:cNvSpPr>
          <p:nvPr/>
        </p:nvSpPr>
        <p:spPr>
          <a:xfrm rot="0">
            <a:off x="5852160" y="3337560"/>
            <a:ext cx="251460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0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Smart Recommendations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7" name="矩形"/>
          <p:cNvSpPr>
            <a:spLocks/>
          </p:cNvSpPr>
          <p:nvPr/>
        </p:nvSpPr>
        <p:spPr>
          <a:xfrm rot="0">
            <a:off x="5852160" y="3749040"/>
            <a:ext cx="2514600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1F2D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Suggests the best options within your budget.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077924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"/>
          <p:cNvSpPr>
            <a:spLocks/>
          </p:cNvSpPr>
          <p:nvPr/>
        </p:nvSpPr>
        <p:spPr>
          <a:xfrm rot="0">
            <a:off x="548640" y="365760"/>
            <a:ext cx="8046719" cy="7315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rgbClr val="0B2B33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How It Works</a:t>
            </a:r>
            <a:endParaRPr lang="zh-CN" altLang="en-US" sz="3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2" name="圆角矩形"/>
          <p:cNvSpPr>
            <a:spLocks/>
          </p:cNvSpPr>
          <p:nvPr/>
        </p:nvSpPr>
        <p:spPr>
          <a:xfrm rot="0">
            <a:off x="548640" y="1737360"/>
            <a:ext cx="1828800" cy="2560320"/>
          </a:xfrm>
          <a:prstGeom prst="roundRect">
            <a:avLst>
              <a:gd name="adj" fmla="val 5000"/>
            </a:avLst>
          </a:prstGeom>
          <a:solidFill>
            <a:srgbClr val="F2F8F8"/>
          </a:solidFill>
          <a:ln w="12700" cmpd="sng" cap="flat">
            <a:noFill/>
            <a:prstDash val="solid"/>
            <a:miter/>
          </a:ln>
        </p:spPr>
      </p:sp>
      <p:sp>
        <p:nvSpPr>
          <p:cNvPr id="53" name="椭圆"/>
          <p:cNvSpPr>
            <a:spLocks/>
          </p:cNvSpPr>
          <p:nvPr/>
        </p:nvSpPr>
        <p:spPr>
          <a:xfrm rot="0">
            <a:off x="1097280" y="1965960"/>
            <a:ext cx="731520" cy="731519"/>
          </a:xfrm>
          <a:prstGeom prst="ellipse"/>
          <a:solidFill>
            <a:srgbClr val="028090"/>
          </a:solidFill>
          <a:ln w="12700" cmpd="sng" cap="flat">
            <a:noFill/>
            <a:prstDash val="solid"/>
            <a:miter/>
          </a:ln>
        </p:spPr>
      </p:sp>
      <p:pic>
        <p:nvPicPr>
          <p:cNvPr id="54" name="图片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298448" y="2167128"/>
            <a:ext cx="329184" cy="32918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55" name="矩形"/>
          <p:cNvSpPr>
            <a:spLocks/>
          </p:cNvSpPr>
          <p:nvPr/>
        </p:nvSpPr>
        <p:spPr>
          <a:xfrm rot="0">
            <a:off x="640080" y="2834640"/>
            <a:ext cx="164592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B6B7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Step 1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6" name="矩形"/>
          <p:cNvSpPr>
            <a:spLocks/>
          </p:cNvSpPr>
          <p:nvPr/>
        </p:nvSpPr>
        <p:spPr>
          <a:xfrm rot="0">
            <a:off x="640080" y="3108960"/>
            <a:ext cx="164592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0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User Input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7" name="矩形"/>
          <p:cNvSpPr>
            <a:spLocks/>
          </p:cNvSpPr>
          <p:nvPr/>
        </p:nvSpPr>
        <p:spPr>
          <a:xfrm rot="0">
            <a:off x="685800" y="3474720"/>
            <a:ext cx="1554480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1F2D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Income, expenses and goals are entered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pic>
        <p:nvPicPr>
          <p:cNvPr id="58" name="图片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2414016" y="2880360"/>
            <a:ext cx="182880" cy="18287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59" name="圆角矩形"/>
          <p:cNvSpPr>
            <a:spLocks/>
          </p:cNvSpPr>
          <p:nvPr/>
        </p:nvSpPr>
        <p:spPr>
          <a:xfrm rot="0">
            <a:off x="2633472" y="1737360"/>
            <a:ext cx="1828800" cy="2560320"/>
          </a:xfrm>
          <a:prstGeom prst="roundRect">
            <a:avLst>
              <a:gd name="adj" fmla="val 5000"/>
            </a:avLst>
          </a:prstGeom>
          <a:solidFill>
            <a:srgbClr val="F2F8F8"/>
          </a:solidFill>
          <a:ln w="12700" cmpd="sng" cap="flat">
            <a:noFill/>
            <a:prstDash val="solid"/>
            <a:miter/>
          </a:ln>
        </p:spPr>
      </p:sp>
      <p:sp>
        <p:nvSpPr>
          <p:cNvPr id="60" name="椭圆"/>
          <p:cNvSpPr>
            <a:spLocks/>
          </p:cNvSpPr>
          <p:nvPr/>
        </p:nvSpPr>
        <p:spPr>
          <a:xfrm rot="0">
            <a:off x="3182112" y="1965960"/>
            <a:ext cx="731520" cy="731519"/>
          </a:xfrm>
          <a:prstGeom prst="ellipse"/>
          <a:solidFill>
            <a:srgbClr val="028090"/>
          </a:solidFill>
          <a:ln w="12700" cmpd="sng" cap="flat">
            <a:noFill/>
            <a:prstDash val="solid"/>
            <a:miter/>
          </a:ln>
        </p:spPr>
      </p:sp>
      <p:pic>
        <p:nvPicPr>
          <p:cNvPr id="61" name="图片" descr="preencod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3383279" y="2167128"/>
            <a:ext cx="329183" cy="32918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62" name="矩形"/>
          <p:cNvSpPr>
            <a:spLocks/>
          </p:cNvSpPr>
          <p:nvPr/>
        </p:nvSpPr>
        <p:spPr>
          <a:xfrm rot="0">
            <a:off x="2724912" y="2834640"/>
            <a:ext cx="164592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B6B7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Step 2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3" name="矩形"/>
          <p:cNvSpPr>
            <a:spLocks/>
          </p:cNvSpPr>
          <p:nvPr/>
        </p:nvSpPr>
        <p:spPr>
          <a:xfrm rot="0">
            <a:off x="2724912" y="3108960"/>
            <a:ext cx="164592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0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Data Processing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4" name="矩形"/>
          <p:cNvSpPr>
            <a:spLocks/>
          </p:cNvSpPr>
          <p:nvPr/>
        </p:nvSpPr>
        <p:spPr>
          <a:xfrm rot="0">
            <a:off x="2770632" y="3474720"/>
            <a:ext cx="1554480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1F2D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Data is cleaned and categorized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pic>
        <p:nvPicPr>
          <p:cNvPr id="65" name="图片" descr="preencoded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4498848" y="2880360"/>
            <a:ext cx="182879" cy="18287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66" name="圆角矩形"/>
          <p:cNvSpPr>
            <a:spLocks/>
          </p:cNvSpPr>
          <p:nvPr/>
        </p:nvSpPr>
        <p:spPr>
          <a:xfrm rot="0">
            <a:off x="4718304" y="1737360"/>
            <a:ext cx="1828800" cy="2560320"/>
          </a:xfrm>
          <a:prstGeom prst="roundRect">
            <a:avLst>
              <a:gd name="adj" fmla="val 5000"/>
            </a:avLst>
          </a:prstGeom>
          <a:solidFill>
            <a:srgbClr val="F2F8F8"/>
          </a:solidFill>
          <a:ln w="12700" cmpd="sng" cap="flat">
            <a:noFill/>
            <a:prstDash val="solid"/>
            <a:miter/>
          </a:ln>
        </p:spPr>
      </p:sp>
      <p:sp>
        <p:nvSpPr>
          <p:cNvPr id="67" name="椭圆"/>
          <p:cNvSpPr>
            <a:spLocks/>
          </p:cNvSpPr>
          <p:nvPr/>
        </p:nvSpPr>
        <p:spPr>
          <a:xfrm rot="0">
            <a:off x="5266944" y="1965960"/>
            <a:ext cx="731519" cy="731519"/>
          </a:xfrm>
          <a:prstGeom prst="ellipse"/>
          <a:solidFill>
            <a:srgbClr val="028090"/>
          </a:solidFill>
          <a:ln w="12700" cmpd="sng" cap="flat">
            <a:noFill/>
            <a:prstDash val="solid"/>
            <a:miter/>
          </a:ln>
        </p:spPr>
      </p:sp>
      <p:pic>
        <p:nvPicPr>
          <p:cNvPr id="68" name="图片" descr="preencoded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0">
            <a:off x="5468112" y="2167128"/>
            <a:ext cx="329184" cy="32918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69" name="矩形"/>
          <p:cNvSpPr>
            <a:spLocks/>
          </p:cNvSpPr>
          <p:nvPr/>
        </p:nvSpPr>
        <p:spPr>
          <a:xfrm rot="0">
            <a:off x="4809744" y="2834640"/>
            <a:ext cx="164592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B6B7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Step 3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0" name="矩形"/>
          <p:cNvSpPr>
            <a:spLocks/>
          </p:cNvSpPr>
          <p:nvPr/>
        </p:nvSpPr>
        <p:spPr>
          <a:xfrm rot="0">
            <a:off x="4809744" y="3108960"/>
            <a:ext cx="164592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0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AI Analysis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1" name="矩形"/>
          <p:cNvSpPr>
            <a:spLocks/>
          </p:cNvSpPr>
          <p:nvPr/>
        </p:nvSpPr>
        <p:spPr>
          <a:xfrm rot="0">
            <a:off x="4855464" y="3474720"/>
            <a:ext cx="1554479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1F2D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Spending patterns are analysed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pic>
        <p:nvPicPr>
          <p:cNvPr id="72" name="图片" descr="preencoded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0">
            <a:off x="6583680" y="2880360"/>
            <a:ext cx="182880" cy="18287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73" name="圆角矩形"/>
          <p:cNvSpPr>
            <a:spLocks/>
          </p:cNvSpPr>
          <p:nvPr/>
        </p:nvSpPr>
        <p:spPr>
          <a:xfrm rot="0">
            <a:off x="6803136" y="1737360"/>
            <a:ext cx="1828800" cy="2560320"/>
          </a:xfrm>
          <a:prstGeom prst="roundRect">
            <a:avLst>
              <a:gd name="adj" fmla="val 5000"/>
            </a:avLst>
          </a:prstGeom>
          <a:solidFill>
            <a:srgbClr val="F2F8F8"/>
          </a:solidFill>
          <a:ln w="12700" cmpd="sng" cap="flat">
            <a:noFill/>
            <a:prstDash val="solid"/>
            <a:miter/>
          </a:ln>
        </p:spPr>
      </p:sp>
      <p:sp>
        <p:nvSpPr>
          <p:cNvPr id="74" name="椭圆"/>
          <p:cNvSpPr>
            <a:spLocks/>
          </p:cNvSpPr>
          <p:nvPr/>
        </p:nvSpPr>
        <p:spPr>
          <a:xfrm rot="0">
            <a:off x="7351776" y="1965960"/>
            <a:ext cx="731519" cy="731519"/>
          </a:xfrm>
          <a:prstGeom prst="ellipse"/>
          <a:solidFill>
            <a:srgbClr val="02C39A"/>
          </a:solidFill>
          <a:ln w="12700" cmpd="sng" cap="flat">
            <a:noFill/>
            <a:prstDash val="solid"/>
            <a:miter/>
          </a:ln>
        </p:spPr>
      </p:sp>
      <p:pic>
        <p:nvPicPr>
          <p:cNvPr id="75" name="图片" descr="preencoded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0">
            <a:off x="7552943" y="2167128"/>
            <a:ext cx="329184" cy="32918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76" name="矩形"/>
          <p:cNvSpPr>
            <a:spLocks/>
          </p:cNvSpPr>
          <p:nvPr/>
        </p:nvSpPr>
        <p:spPr>
          <a:xfrm rot="0">
            <a:off x="6894576" y="2834640"/>
            <a:ext cx="164592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B6B7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Step 4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7" name="矩形"/>
          <p:cNvSpPr>
            <a:spLocks/>
          </p:cNvSpPr>
          <p:nvPr/>
        </p:nvSpPr>
        <p:spPr>
          <a:xfrm rot="0">
            <a:off x="6894576" y="3108960"/>
            <a:ext cx="164592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0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Suggestions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8" name="矩形"/>
          <p:cNvSpPr>
            <a:spLocks/>
          </p:cNvSpPr>
          <p:nvPr/>
        </p:nvSpPr>
        <p:spPr>
          <a:xfrm rot="0">
            <a:off x="6940296" y="3474720"/>
            <a:ext cx="1554480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1F2D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Budget tips and recommendations shown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529450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2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矩形"/>
          <p:cNvSpPr>
            <a:spLocks/>
          </p:cNvSpPr>
          <p:nvPr/>
        </p:nvSpPr>
        <p:spPr>
          <a:xfrm rot="0">
            <a:off x="548640" y="365760"/>
            <a:ext cx="8046719" cy="7315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rgbClr val="0B2B33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Technology and Benefits</a:t>
            </a:r>
            <a:endParaRPr lang="zh-CN" altLang="en-US" sz="3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3" name="圆角矩形"/>
          <p:cNvSpPr>
            <a:spLocks/>
          </p:cNvSpPr>
          <p:nvPr/>
        </p:nvSpPr>
        <p:spPr>
          <a:xfrm rot="0">
            <a:off x="548640" y="1371600"/>
            <a:ext cx="3886200" cy="3200400"/>
          </a:xfrm>
          <a:prstGeom prst="roundRect">
            <a:avLst>
              <a:gd name="adj" fmla="val 2856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76200" dist="25400" dir="5400000">
              <a:srgbClr val="000000">
                <a:alpha val="11764"/>
              </a:srgbClr>
            </a:outerShdw>
          </a:effectLst>
        </p:spPr>
      </p:sp>
      <p:sp>
        <p:nvSpPr>
          <p:cNvPr id="84" name="椭圆"/>
          <p:cNvSpPr>
            <a:spLocks/>
          </p:cNvSpPr>
          <p:nvPr/>
        </p:nvSpPr>
        <p:spPr>
          <a:xfrm rot="0">
            <a:off x="822960" y="1600200"/>
            <a:ext cx="548640" cy="548640"/>
          </a:xfrm>
          <a:prstGeom prst="ellipse"/>
          <a:solidFill>
            <a:srgbClr val="028090"/>
          </a:solidFill>
          <a:ln w="12700" cmpd="sng" cap="flat">
            <a:noFill/>
            <a:prstDash val="solid"/>
            <a:miter/>
          </a:ln>
        </p:spPr>
      </p:sp>
      <p:pic>
        <p:nvPicPr>
          <p:cNvPr id="85" name="图片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978408" y="1755648"/>
            <a:ext cx="237744" cy="23774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86" name="矩形"/>
          <p:cNvSpPr>
            <a:spLocks/>
          </p:cNvSpPr>
          <p:nvPr/>
        </p:nvSpPr>
        <p:spPr>
          <a:xfrm rot="0">
            <a:off x="1508759" y="1600200"/>
            <a:ext cx="274320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0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Technology Stack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7" name="矩形"/>
          <p:cNvSpPr>
            <a:spLocks/>
          </p:cNvSpPr>
          <p:nvPr/>
        </p:nvSpPr>
        <p:spPr>
          <a:xfrm rot="0">
            <a:off x="822960" y="2377440"/>
            <a:ext cx="3383279" cy="20116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rgbClr val="1F2D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Frontend: Mobile / Web app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rgbClr val="1F2D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Backend: Python or Node.js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rgbClr val="1F2D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AI / ML: recommendation model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rgbClr val="1F2D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Database: expense and user data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8" name="圆角矩形"/>
          <p:cNvSpPr>
            <a:spLocks/>
          </p:cNvSpPr>
          <p:nvPr/>
        </p:nvSpPr>
        <p:spPr>
          <a:xfrm rot="0">
            <a:off x="4709160" y="1371600"/>
            <a:ext cx="3886200" cy="3200400"/>
          </a:xfrm>
          <a:prstGeom prst="roundRect">
            <a:avLst>
              <a:gd name="adj" fmla="val 2856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76200" dist="25400" dir="5400000">
              <a:srgbClr val="000000">
                <a:alpha val="11764"/>
              </a:srgbClr>
            </a:outerShdw>
          </a:effectLst>
        </p:spPr>
      </p:sp>
      <p:sp>
        <p:nvSpPr>
          <p:cNvPr id="89" name="椭圆"/>
          <p:cNvSpPr>
            <a:spLocks/>
          </p:cNvSpPr>
          <p:nvPr/>
        </p:nvSpPr>
        <p:spPr>
          <a:xfrm rot="0">
            <a:off x="4983480" y="1600200"/>
            <a:ext cx="548640" cy="548640"/>
          </a:xfrm>
          <a:prstGeom prst="ellipse"/>
          <a:solidFill>
            <a:srgbClr val="02C39A"/>
          </a:solidFill>
          <a:ln w="12700" cmpd="sng" cap="flat">
            <a:noFill/>
            <a:prstDash val="solid"/>
            <a:miter/>
          </a:ln>
        </p:spPr>
      </p:sp>
      <p:pic>
        <p:nvPicPr>
          <p:cNvPr id="90" name="图片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5138927" y="1755648"/>
            <a:ext cx="237744" cy="23774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91" name="矩形"/>
          <p:cNvSpPr>
            <a:spLocks/>
          </p:cNvSpPr>
          <p:nvPr/>
        </p:nvSpPr>
        <p:spPr>
          <a:xfrm rot="0">
            <a:off x="5669280" y="1600200"/>
            <a:ext cx="274320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0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Benefits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2" name="矩形"/>
          <p:cNvSpPr>
            <a:spLocks/>
          </p:cNvSpPr>
          <p:nvPr/>
        </p:nvSpPr>
        <p:spPr>
          <a:xfrm rot="0">
            <a:off x="4983480" y="2377440"/>
            <a:ext cx="3383279" cy="20116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rgbClr val="1F2D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Saves time and effort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rgbClr val="1F2D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Builds better money habits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rgbClr val="1F2D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Personalized suggestions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rgbClr val="1F2D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Simple and easy to use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357082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B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矩形"/>
          <p:cNvSpPr>
            <a:spLocks/>
          </p:cNvSpPr>
          <p:nvPr/>
        </p:nvSpPr>
        <p:spPr>
          <a:xfrm rot="0">
            <a:off x="640080" y="457200"/>
            <a:ext cx="7863840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Conclusion and Future Scope</a:t>
            </a:r>
            <a:endParaRPr lang="zh-CN" altLang="en-US" sz="3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7" name="矩形"/>
          <p:cNvSpPr>
            <a:spLocks/>
          </p:cNvSpPr>
          <p:nvPr/>
        </p:nvSpPr>
        <p:spPr>
          <a:xfrm rot="0">
            <a:off x="640080" y="1280160"/>
            <a:ext cx="786384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D5E6E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Pocket Smart AI makes budgeting simple by combining expense tracking with AI-driven advice, helping users spend wisely and save more.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8" name="圆角矩形"/>
          <p:cNvSpPr>
            <a:spLocks/>
          </p:cNvSpPr>
          <p:nvPr/>
        </p:nvSpPr>
        <p:spPr>
          <a:xfrm rot="0">
            <a:off x="640080" y="2514600"/>
            <a:ext cx="2468880" cy="1280159"/>
          </a:xfrm>
          <a:prstGeom prst="roundRect">
            <a:avLst>
              <a:gd name="adj" fmla="val 7143"/>
            </a:avLst>
          </a:prstGeom>
          <a:solidFill>
            <a:srgbClr val="123C46"/>
          </a:solidFill>
          <a:ln w="12700" cmpd="sng" cap="flat">
            <a:noFill/>
            <a:prstDash val="solid"/>
            <a:miter/>
          </a:ln>
        </p:spPr>
      </p:sp>
      <p:pic>
        <p:nvPicPr>
          <p:cNvPr id="99" name="图片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691639" y="2697480"/>
            <a:ext cx="365760" cy="36575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00" name="矩形"/>
          <p:cNvSpPr>
            <a:spLocks/>
          </p:cNvSpPr>
          <p:nvPr/>
        </p:nvSpPr>
        <p:spPr>
          <a:xfrm rot="0">
            <a:off x="731520" y="3200400"/>
            <a:ext cx="228600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Smart alerts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1" name="圆角矩形"/>
          <p:cNvSpPr>
            <a:spLocks/>
          </p:cNvSpPr>
          <p:nvPr/>
        </p:nvSpPr>
        <p:spPr>
          <a:xfrm rot="0">
            <a:off x="3337560" y="2514600"/>
            <a:ext cx="2468880" cy="1280159"/>
          </a:xfrm>
          <a:prstGeom prst="roundRect">
            <a:avLst>
              <a:gd name="adj" fmla="val 7143"/>
            </a:avLst>
          </a:prstGeom>
          <a:solidFill>
            <a:srgbClr val="123C46"/>
          </a:solidFill>
          <a:ln w="12700" cmpd="sng" cap="flat">
            <a:noFill/>
            <a:prstDash val="solid"/>
            <a:miter/>
          </a:ln>
        </p:spPr>
      </p:sp>
      <p:pic>
        <p:nvPicPr>
          <p:cNvPr id="102" name="图片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4389120" y="2697480"/>
            <a:ext cx="365759" cy="36575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03" name="矩形"/>
          <p:cNvSpPr>
            <a:spLocks/>
          </p:cNvSpPr>
          <p:nvPr/>
        </p:nvSpPr>
        <p:spPr>
          <a:xfrm rot="0">
            <a:off x="3429000" y="3200400"/>
            <a:ext cx="228600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Voice input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4" name="圆角矩形"/>
          <p:cNvSpPr>
            <a:spLocks/>
          </p:cNvSpPr>
          <p:nvPr/>
        </p:nvSpPr>
        <p:spPr>
          <a:xfrm rot="0">
            <a:off x="6035039" y="2514600"/>
            <a:ext cx="2468880" cy="1280159"/>
          </a:xfrm>
          <a:prstGeom prst="roundRect">
            <a:avLst>
              <a:gd name="adj" fmla="val 7143"/>
            </a:avLst>
          </a:prstGeom>
          <a:solidFill>
            <a:srgbClr val="123C46"/>
          </a:solidFill>
          <a:ln w="12700" cmpd="sng" cap="flat">
            <a:noFill/>
            <a:prstDash val="solid"/>
            <a:miter/>
          </a:ln>
        </p:spPr>
      </p:sp>
      <p:pic>
        <p:nvPicPr>
          <p:cNvPr id="105" name="图片" descr="preencod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7086600" y="2697480"/>
            <a:ext cx="365759" cy="36575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06" name="矩形"/>
          <p:cNvSpPr>
            <a:spLocks/>
          </p:cNvSpPr>
          <p:nvPr/>
        </p:nvSpPr>
        <p:spPr>
          <a:xfrm rot="0">
            <a:off x="6126479" y="3200400"/>
            <a:ext cx="228600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Bank / UPI sync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7" name="矩形"/>
          <p:cNvSpPr>
            <a:spLocks/>
          </p:cNvSpPr>
          <p:nvPr/>
        </p:nvSpPr>
        <p:spPr>
          <a:xfrm rot="0">
            <a:off x="640080" y="4114800"/>
            <a:ext cx="7863840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rgbClr val="02C39A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Thank You!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126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6</TotalTime>
  <Application>Yozo_Office</Applicat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Pocket Smart AI</dc:title>
  <dc:subject>PptxGenJS Presentation</dc:subject>
  <dc:creator>PptxGenJS</dc:creator>
  <cp:lastModifiedBy>root</cp:lastModifiedBy>
  <cp:revision>2</cp:revision>
  <dcterms:created xsi:type="dcterms:W3CDTF">2026-09-24T09:39:22Z</dcterms:created>
  <dcterms:modified xsi:type="dcterms:W3CDTF">2026-09-30T06:25:33Z</dcterms:modified>
</cp:coreProperties>
</file>